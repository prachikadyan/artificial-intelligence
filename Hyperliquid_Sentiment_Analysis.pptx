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PnL (USD)</c:v>
                </c:pt>
              </c:strCache>
            </c:strRef>
          </c:tx>
          <c:spPr>
            <a:solidFill>
              <a:srgbClr val="D32F2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32F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36-4953-920F-611DE38D9B34}"/>
              </c:ext>
            </c:extLst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36-4953-920F-611DE38D9B34}"/>
              </c:ext>
            </c:extLst>
          </c:dPt>
          <c:dPt>
            <c:idx val="2"/>
            <c:invertIfNegative val="0"/>
            <c:bubble3D val="0"/>
            <c:spPr>
              <a:solidFill>
                <a:srgbClr val="7575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36-4953-920F-611DE38D9B34}"/>
              </c:ext>
            </c:extLst>
          </c:dPt>
          <c:dPt>
            <c:idx val="3"/>
            <c:invertIfNegative val="0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36-4953-920F-611DE38D9B34}"/>
              </c:ext>
            </c:extLst>
          </c:dPt>
          <c:dPt>
            <c:idx val="4"/>
            <c:invertIfNegative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36-4953-920F-611DE38D9B3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Extreme Fear</c:v>
                </c:pt>
                <c:pt idx="1">
                  <c:v>Fear</c:v>
                </c:pt>
                <c:pt idx="2">
                  <c:v>Neutral</c:v>
                </c:pt>
                <c:pt idx="3">
                  <c:v>Greed</c:v>
                </c:pt>
                <c:pt idx="4">
                  <c:v>Extreme Greed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34.54</c:v>
                </c:pt>
                <c:pt idx="1">
                  <c:v>54.29</c:v>
                </c:pt>
                <c:pt idx="2">
                  <c:v>34.31</c:v>
                </c:pt>
                <c:pt idx="3">
                  <c:v>42.74</c:v>
                </c:pt>
                <c:pt idx="4">
                  <c:v>67.89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36-4953-920F-611DE38D9B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58-481B-83F0-8EB6593D0736}"/>
              </c:ext>
            </c:extLst>
          </c:dPt>
          <c:dPt>
            <c:idx val="1"/>
            <c:invertIfNegative val="0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58-481B-83F0-8EB6593D0736}"/>
              </c:ext>
            </c:extLst>
          </c:dPt>
          <c:dPt>
            <c:idx val="2"/>
            <c:invertIfNegative val="0"/>
            <c:bubble3D val="0"/>
            <c:spPr>
              <a:solidFill>
                <a:srgbClr val="7575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58-481B-83F0-8EB6593D0736}"/>
              </c:ext>
            </c:extLst>
          </c:dPt>
          <c:dPt>
            <c:idx val="3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58-481B-83F0-8EB6593D0736}"/>
              </c:ext>
            </c:extLst>
          </c:dPt>
          <c:dPt>
            <c:idx val="4"/>
            <c:invertIfNegative val="0"/>
            <c:bubble3D val="0"/>
            <c:spPr>
              <a:solidFill>
                <a:srgbClr val="D32F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058-481B-83F0-8EB6593D073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Extreme Fear</c:v>
                </c:pt>
                <c:pt idx="1">
                  <c:v>Fear</c:v>
                </c:pt>
                <c:pt idx="2">
                  <c:v>Neutral</c:v>
                </c:pt>
                <c:pt idx="3">
                  <c:v>Greed</c:v>
                </c:pt>
                <c:pt idx="4">
                  <c:v>Extreme Greed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37.1</c:v>
                </c:pt>
                <c:pt idx="1">
                  <c:v>42.1</c:v>
                </c:pt>
                <c:pt idx="2">
                  <c:v>39.700000000000003</c:v>
                </c:pt>
                <c:pt idx="3">
                  <c:v>38.5</c:v>
                </c:pt>
                <c:pt idx="4">
                  <c:v>46.5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058-481B-83F0-8EB6593D07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 %</c:v>
                </c:pt>
              </c:strCache>
            </c:strRef>
          </c:tx>
          <c:spPr>
            <a:solidFill>
              <a:srgbClr val="2EA04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Extreme Fear</c:v>
                </c:pt>
                <c:pt idx="1">
                  <c:v>Fear</c:v>
                </c:pt>
                <c:pt idx="2">
                  <c:v>Neutral</c:v>
                </c:pt>
                <c:pt idx="3">
                  <c:v>Greed</c:v>
                </c:pt>
                <c:pt idx="4">
                  <c:v>Extreme Greed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65.7</c:v>
                </c:pt>
                <c:pt idx="1">
                  <c:v>62</c:v>
                </c:pt>
                <c:pt idx="2">
                  <c:v>61.4</c:v>
                </c:pt>
                <c:pt idx="3">
                  <c:v>42.3</c:v>
                </c:pt>
                <c:pt idx="4">
                  <c:v>46.6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50-4DD4-9ADA-9F3A58AB31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 %</c:v>
                </c:pt>
              </c:strCache>
            </c:strRef>
          </c:tx>
          <c:spPr>
            <a:solidFill>
              <a:srgbClr val="DA36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Extreme Fear</c:v>
                </c:pt>
                <c:pt idx="1">
                  <c:v>Fear</c:v>
                </c:pt>
                <c:pt idx="2">
                  <c:v>Neutral</c:v>
                </c:pt>
                <c:pt idx="3">
                  <c:v>Greed</c:v>
                </c:pt>
                <c:pt idx="4">
                  <c:v>Extreme Greed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34.299999999999997</c:v>
                </c:pt>
                <c:pt idx="1">
                  <c:v>38</c:v>
                </c:pt>
                <c:pt idx="2">
                  <c:v>38.6</c:v>
                </c:pt>
                <c:pt idx="3">
                  <c:v>57.7</c:v>
                </c:pt>
                <c:pt idx="4">
                  <c:v>53.4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50-4DD4-9ADA-9F3A58AB31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PnL (USD)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DD-4A07-815B-05AF4CC020F5}"/>
              </c:ext>
            </c:extLst>
          </c:dPt>
          <c:dPt>
            <c:idx val="1"/>
            <c:invertIfNegative val="0"/>
            <c:bubble3D val="0"/>
            <c:spPr>
              <a:solidFill>
                <a:srgbClr val="F088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DD-4A07-815B-05AF4CC020F5}"/>
              </c:ext>
            </c:extLst>
          </c:dPt>
          <c:dPt>
            <c:idx val="2"/>
            <c:invertIfNegative val="0"/>
            <c:bubble3D val="0"/>
            <c:spPr>
              <a:solidFill>
                <a:srgbClr val="8B94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DD-4A07-815B-05AF4CC020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Contrarian</c:v>
                </c:pt>
                <c:pt idx="1">
                  <c:v>Momentum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54.56</c:v>
                </c:pt>
                <c:pt idx="1">
                  <c:v>46.77</c:v>
                </c:pt>
                <c:pt idx="2">
                  <c:v>36.700000000000003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1DD-4A07-815B-05AF4CC020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D4-401C-BD96-C042EBE017D6}"/>
              </c:ext>
            </c:extLst>
          </c:dPt>
          <c:dPt>
            <c:idx val="1"/>
            <c:invertIfNegative val="0"/>
            <c:bubble3D val="0"/>
            <c:spPr>
              <a:solidFill>
                <a:srgbClr val="F088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D4-401C-BD96-C042EBE017D6}"/>
              </c:ext>
            </c:extLst>
          </c:dPt>
          <c:dPt>
            <c:idx val="2"/>
            <c:invertIfNegative val="0"/>
            <c:bubble3D val="0"/>
            <c:spPr>
              <a:solidFill>
                <a:srgbClr val="8B94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D4-401C-BD96-C042EBE017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Contrarian</c:v>
                </c:pt>
                <c:pt idx="1">
                  <c:v>Momentum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44.2</c:v>
                </c:pt>
                <c:pt idx="1">
                  <c:v>37.4</c:v>
                </c:pt>
                <c:pt idx="2">
                  <c:v>39.700000000000003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FD4-401C-BD96-C042EBE017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PnL (K USD)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8A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C1-43C6-A57E-0E69D50024C1}"/>
              </c:ext>
            </c:extLst>
          </c:dPt>
          <c:dPt>
            <c:idx val="1"/>
            <c:invertIfNegative val="0"/>
            <c:bubble3D val="0"/>
            <c:spPr>
              <a:solidFill>
                <a:srgbClr val="2EA0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C1-43C6-A57E-0E69D50024C1}"/>
              </c:ext>
            </c:extLst>
          </c:dPt>
          <c:dPt>
            <c:idx val="2"/>
            <c:invertIfNegative val="0"/>
            <c:bubble3D val="0"/>
            <c:spPr>
              <a:solidFill>
                <a:srgbClr val="BC8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C1-43C6-A57E-0E69D50024C1}"/>
              </c:ext>
            </c:extLst>
          </c:dPt>
          <c:dPt>
            <c:idx val="3"/>
            <c:invertIfNegative val="0"/>
            <c:bubble3D val="0"/>
            <c:spPr>
              <a:solidFill>
                <a:srgbClr val="F088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C1-43C6-A57E-0E69D50024C1}"/>
              </c:ext>
            </c:extLst>
          </c:dPt>
          <c:dPt>
            <c:idx val="4"/>
            <c:invertIfNegative val="0"/>
            <c:bubble3D val="0"/>
            <c:spPr>
              <a:solidFill>
                <a:srgbClr val="58A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C1-43C6-A57E-0E69D50024C1}"/>
              </c:ext>
            </c:extLst>
          </c:dPt>
          <c:dPt>
            <c:idx val="5"/>
            <c:invertIfNegative val="0"/>
            <c:bubble3D val="0"/>
            <c:spPr>
              <a:solidFill>
                <a:srgbClr val="2EA0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C1-43C6-A57E-0E69D50024C1}"/>
              </c:ext>
            </c:extLst>
          </c:dPt>
          <c:dPt>
            <c:idx val="6"/>
            <c:invertIfNegative val="0"/>
            <c:bubble3D val="0"/>
            <c:spPr>
              <a:solidFill>
                <a:srgbClr val="BC8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4C1-43C6-A57E-0E69D50024C1}"/>
              </c:ext>
            </c:extLst>
          </c:dPt>
          <c:dPt>
            <c:idx val="7"/>
            <c:invertIfNegative val="0"/>
            <c:bubble3D val="0"/>
            <c:spPr>
              <a:solidFill>
                <a:srgbClr val="F088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4C1-43C6-A57E-0E69D50024C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@107</c:v>
                </c:pt>
                <c:pt idx="1">
                  <c:v>HYPE</c:v>
                </c:pt>
                <c:pt idx="2">
                  <c:v>SOL</c:v>
                </c:pt>
                <c:pt idx="3">
                  <c:v>ETH</c:v>
                </c:pt>
                <c:pt idx="4">
                  <c:v>BTC</c:v>
                </c:pt>
                <c:pt idx="5">
                  <c:v>MELANIA</c:v>
                </c:pt>
                <c:pt idx="6">
                  <c:v>ENA</c:v>
                </c:pt>
                <c:pt idx="7">
                  <c:v>SUI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2783.9</c:v>
                </c:pt>
                <c:pt idx="1">
                  <c:v>1948.5</c:v>
                </c:pt>
                <c:pt idx="2">
                  <c:v>1639.6</c:v>
                </c:pt>
                <c:pt idx="3">
                  <c:v>1320</c:v>
                </c:pt>
                <c:pt idx="4">
                  <c:v>868</c:v>
                </c:pt>
                <c:pt idx="5">
                  <c:v>390.4</c:v>
                </c:pt>
                <c:pt idx="6">
                  <c:v>217.3</c:v>
                </c:pt>
                <c:pt idx="7">
                  <c:v>199.3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4C1-43C6-A57E-0E69D50024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Trade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32F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81-42B6-9561-88648F6612BB}"/>
              </c:ext>
            </c:extLst>
          </c:dPt>
          <c:dPt>
            <c:idx val="1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81-42B6-9561-88648F6612BB}"/>
              </c:ext>
            </c:extLst>
          </c:dPt>
          <c:dPt>
            <c:idx val="2"/>
            <c:bubble3D val="0"/>
            <c:spPr>
              <a:solidFill>
                <a:srgbClr val="7575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81-42B6-9561-88648F6612BB}"/>
              </c:ext>
            </c:extLst>
          </c:dPt>
          <c:dPt>
            <c:idx val="3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81-42B6-9561-88648F6612BB}"/>
              </c:ext>
            </c:extLst>
          </c:dPt>
          <c:dPt>
            <c:idx val="4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81-42B6-9561-88648F6612B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81-42B6-9561-88648F6612B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D81-42B6-9561-88648F6612B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D81-42B6-9561-88648F6612B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D81-42B6-9561-88648F6612B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D81-42B6-9561-88648F6612B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Extreme Fear</c:v>
                </c:pt>
                <c:pt idx="1">
                  <c:v>Fear</c:v>
                </c:pt>
                <c:pt idx="2">
                  <c:v>Neutral</c:v>
                </c:pt>
                <c:pt idx="3">
                  <c:v>Greed</c:v>
                </c:pt>
                <c:pt idx="4">
                  <c:v>Extreme Greed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21400</c:v>
                </c:pt>
                <c:pt idx="1">
                  <c:v>61837</c:v>
                </c:pt>
                <c:pt idx="2">
                  <c:v>37686</c:v>
                </c:pt>
                <c:pt idx="3">
                  <c:v>50303</c:v>
                </c:pt>
                <c:pt idx="4">
                  <c:v>39992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81-42B6-9561-88648F6612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61B2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49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E53E-4797-6E8F-F02D-2B2F4EEA7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682D5-A668-B022-B21B-1D3A79E92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A38CD-F8C1-9AEA-5FD0-CBB3C184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5B10E-8F59-7DCE-11E2-4A529C04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BB553-D8DE-882E-F32C-F2D626CA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9893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7DA3-AF6D-CF9F-CBF2-A3B69F77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29F38-A322-E3B6-27CC-72EA6B288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26A1E-4620-B510-285C-2B93E6E85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96DB2-3973-5ABB-3EA3-942D2E38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EF06B-D933-8587-55A7-5626F576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1078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9FF47-2B6C-9DF8-C3F4-3A1A94AB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5CD32-1467-38C6-31DB-50399418B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1EFD9-98FF-D70C-66F1-A13CDB8B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593F8-F37B-E2D0-4BD3-6F7D7425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FA8A-E7BB-AC09-CB3C-138C265E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1402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D070-5A5E-0AE2-A7F8-B8BB4BBDF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3665A-802F-003C-D019-A79B47AB9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1E26B-0A88-5AD0-5ADB-626119E0A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3EFD1-2DAD-16DF-69BF-8C430B08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31486-66E2-1C02-CB9F-4DC4A650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F5952-A3F0-84E9-E3A6-A70B1A50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6383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56DF-1E83-34B3-1A05-851732DB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9084D-F3F5-5508-70E5-287523D2A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BFE6F-B9BF-18B2-9071-32D110F2A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9A6BE-5232-838F-3327-B2B99237F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64D9C-FFB8-D39F-9D1D-6E73B2EDA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17FBC-1FE1-3A5B-1890-E13E86D9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C96A0-1A07-F22D-12E6-757CBF4A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FB4C6-4881-859B-EA88-37862F71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4287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2ECD-6759-FD35-38F5-BCD40009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6E039-B6C3-F3BD-89CA-5D7ED841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11F04-DE7F-D526-049F-17608E73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13C1C-47C2-F8DF-6A16-41B3F2AF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5933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DA9AB-1D07-DBCA-502A-FDE60E00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26617-2234-5C85-17AB-C2A46352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B625C-74D0-8820-960A-62D48CC9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9034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B9A0-13AF-5AF9-1766-D7EE19C02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3E6A-B6DF-0A29-99CB-F2E0C74CF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EFF0A-0F5C-25D3-A78E-AAA3846DF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B359B-DAC5-5F23-7282-26B0619C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CD499-03BF-3950-8400-EB1D569D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FD6F3-13AF-6168-89D6-D148DC99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9648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F14E-CEAE-5EC5-DB8C-F6B5A749A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C41FA-CA29-381C-45B7-901BB5C63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13C98-CD1B-A5F0-9FA6-3477EE98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A4EC3-C706-28EC-0D23-063E1C5E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5C096-2A21-5C88-FF65-A59E2AC8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33798-6701-5882-5150-4916A763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2339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A20E-DB12-1608-938C-C2695B4D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96551-CEBC-DB94-D8A1-B52989203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09F8C-1172-D7E5-4EFE-D94776DC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9391-2C87-3566-C3EE-C16C54CB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E486-193E-F532-6876-38F61E6A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2138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49B72-1E68-9F13-F4D7-57F749BCC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1DA18-D8B1-43AC-C054-71EC7A42D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15344-E7AE-3D70-8692-AD38DA48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73D0D-7AED-F747-CFF7-E4F8E9AD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DB67E-ED96-C10C-3A7E-878D38CE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3523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02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D0E96-5616-CFF9-83C2-C10CAE999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DFE0D-21FC-BAA4-9A2B-751296C63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95748-3F64-1264-01C7-F0C6C385A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07FD-6926-4D51-AE92-526021E92C5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18295-B537-6456-8393-32872E4A6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CCD0-D144-C05E-F375-4B9CE1449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730CD-3DE2-462C-A375-B944712E3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18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82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6400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Hyperliquid Trader Performance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Bitcoin Fear &amp; Greed Index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84124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patterns between market sentiment and trader profitability across 211K+ trades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1920240" cy="137160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211,224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2971800"/>
            <a:ext cx="1920240" cy="137160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146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Traders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1920240" cy="137160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PnL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2971800"/>
            <a:ext cx="1920240" cy="1371600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2023 – May 2025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2EA0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123444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Drives Returns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Greed periods yield $67.89 avg PnL/trade — 97% higher than Extreme Fear periods ($34.54). Traders earn 2× more when markets are euphoric.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0624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777240"/>
            <a:ext cx="54864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 Edge is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1612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Contrarians (buying fear, shorting greed) earn $54.56 avg PnL vs $46.77 for momentum followers — a 16.6% performance advantage and 6.9pp higher win rate.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20624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54864" cy="12344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21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Triggers Bigger Bets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Fear, traders deploy $7,816 avg per trade vs $3,112 in Extreme Greed — suggesting panic drives oversized position sizing, increasing risk.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148840"/>
            <a:ext cx="420624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148840"/>
            <a:ext cx="54864" cy="12344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21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Shapes Direction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328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Fear markets, 66% of trades are Long (buying the dip). In Greed, 53% flip to Short — a classic contrarian behavioral pattern emerging at extremes.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420624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2EA0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20440"/>
            <a:ext cx="54864" cy="123444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 Coin: @107 &amp; HYPE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9044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@107 generated $2.78M total PnL across 30K trades; HYPE followed with $1.95M — together accounting for 45% of all PnL in the dataset.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420624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DA36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520440"/>
            <a:ext cx="54864" cy="123444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044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traders generated $3.74M (35%+ of total PnL). High alpha concentration signals the platform's returns are driven by a small elite group.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PnL per Trade by Market Sentiment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852160" y="731520"/>
          <a:ext cx="31089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PnL per Trade (USD)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852160" y="4526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(%)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852160" y="4754880"/>
            <a:ext cx="3108960" cy="274320"/>
          </a:xfrm>
          <a:prstGeom prst="rect">
            <a:avLst/>
          </a:prstGeom>
          <a:solidFill>
            <a:srgbClr val="161B22"/>
          </a:solidFill>
          <a:ln w="10160">
            <a:solidFill>
              <a:srgbClr val="2EA04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521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Extreme Greed earns 97% more per trade than Extreme Fear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Directional Bias by Market Sentiment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749808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7863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Fear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89320" y="10058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66%  |  Short: 34%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89320" y="11887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buy-the-dip behavior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0" y="1517904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89320" y="17739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62%  |  Short: 38%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1956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bias persists in fear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0" y="2286000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3225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9320" y="25420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61%  |  Short: 39%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89320" y="27249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long preference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943600" y="3054096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3090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89320" y="3310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42%  |  Short: 58%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89320" y="34930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Contrarians short the rally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943600" y="3822192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Greed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89320" y="40782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47%  |  Short: 53%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89320" y="4261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shorts appear at top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 vs Momentum Strategy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Avg PnL per Trade</a:t>
            </a:r>
            <a:endParaRPr lang="en-US" sz="10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663440" y="7315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66344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Win Rate (%)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74320" y="3611880"/>
            <a:ext cx="27432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404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Fear / Short Greed — trade against the sentiment crowd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84048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102,640 trades  |  $54.56 avg PnL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3611880"/>
            <a:ext cx="27432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10128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012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Fear / Buy Greed — trade in the direction of sentiment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310128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70,650 trades  |  $46.77 avg PnL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3611880"/>
            <a:ext cx="27432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36208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23620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during Neutral sentiment periods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236208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37,934 trades  |  $36.70 avg PnL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Assets &amp; Trade Volume by Sentiment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5537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Total PnL by Coin (USD Thousands)</a:t>
            </a:r>
            <a:endParaRPr lang="en-US" sz="10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5394960" y="731520"/>
          <a:ext cx="3566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39496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Trade Distribution by Sentiment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394960" y="4251960"/>
            <a:ext cx="35661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94960" y="4251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@107 + HYPE dominate: $4.73M combined (45% of total platform PnL)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Performance Segmentation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Traders by Total PnL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4709160" cy="362102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Wallet (short)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PnL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Trades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Win%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0xb123...ed23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$2,143,383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6,298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33.7%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0x0833...9012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$1,600,230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8,342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36.0%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0xbaaa...7864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$940,164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5,211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46.8%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0x513b...4ff1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$840,423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4,990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40.1%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0xbee1...7aab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$836,081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5,712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42.8%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0x4acb...9f4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$677,747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3,849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48.6%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0x7274...fbd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$429,356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7,103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34.6%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0x430f...713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$416,542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3,311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48.4%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0x72c6...a0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$403,012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9,101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30.6%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0x75f7...74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A043"/>
                          </a:solidFill>
                        </a:rPr>
                        <a:t>$379,095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</a:rPr>
                        <a:t>814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8A6FF"/>
                          </a:solidFill>
                        </a:rPr>
                        <a:t>81.1%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749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Concentration Analysis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097280"/>
            <a:ext cx="32918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143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</a:t>
            </a:r>
            <a:endParaRPr lang="en-US" sz="2600" dirty="0"/>
          </a:p>
        </p:txBody>
      </p:sp>
      <p:sp>
        <p:nvSpPr>
          <p:cNvPr id="5" name="Text 6"/>
          <p:cNvSpPr/>
          <p:nvPr/>
        </p:nvSpPr>
        <p:spPr>
          <a:xfrm>
            <a:off x="5577840" y="15179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Traders Share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169164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platform PnL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577840" y="2057400"/>
            <a:ext cx="32918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21031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577840" y="247802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Traders Share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77840" y="265176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platform PnL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577840" y="3017520"/>
            <a:ext cx="32918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3063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77840" y="343814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Win Rate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77840" y="361188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#10 (814 trades)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577840" y="3977640"/>
            <a:ext cx="32918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4023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577840" y="43982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 Rate (all)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0" y="457200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traders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&amp; Trading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98448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12984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50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Fade the Crowd at Extremes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sentiment hits Extreme Fear or Extreme Greed, contrarian positioning outperforms. Implement sentiment-triggered mean-reversion signals that scale into longs during panic and shorts during euphoria.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203704"/>
            <a:ext cx="4114800" cy="1298448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03704"/>
            <a:ext cx="54864" cy="129844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Reduce Size in Fear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58775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higher long ratios, Fear periods show the highest avg trade sizes ($7,816) with sub-par returns ($34 avg). Traders should reduce position size in fear — bigger bets do not equal better outcomes.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630168"/>
            <a:ext cx="4114800" cy="1298448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630168"/>
            <a:ext cx="54864" cy="129844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Exploit the Greed-to-Neutral Rotation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01421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data shows Extreme Greed naturally reverts (avg daily drop: -1.33 pts). Position for reversion trades when the index exceeds 80, targeting Neutral reversion as a profit target.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4114800" cy="1298448"/>
          </a:xfrm>
          <a:prstGeom prst="rect">
            <a:avLst/>
          </a:prstGeom>
          <a:solidFill>
            <a:srgbClr val="161B22"/>
          </a:solidFill>
          <a:ln w="15240">
            <a:solidFill>
              <a:srgbClr val="2EA0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777240"/>
            <a:ext cx="54864" cy="1298448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850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Concentrate on High-Alpha Assets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116128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@107 and HYPE drive 45%+ of all PnL. A focused strategy on 2–3 top-performing assets with sentiment overlays would outperform a diversified approach on this platform.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203704"/>
            <a:ext cx="4114800" cy="1298448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203704"/>
            <a:ext cx="54864" cy="12984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Sentiment-Aware Risk Models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58775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FGI as a dynamic risk multiplier: max leverage during Neutral/Greed, minimal leverage at extremes. This protects capital during panic and euphoria spikes.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630168"/>
            <a:ext cx="4114800" cy="1298448"/>
          </a:xfrm>
          <a:prstGeom prst="rect">
            <a:avLst/>
          </a:prstGeom>
          <a:solidFill>
            <a:srgbClr val="161B22"/>
          </a:solidFill>
          <a:ln w="15240">
            <a:solidFill>
              <a:srgbClr val="DA36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630168"/>
            <a:ext cx="54864" cy="1298448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Monitor Elite Trader Signals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401421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traders generate 35%+ of PnL. Copy-trading or signal monitoring of high-conviction whale wallets could be a low-effort alpha source for smaller participants.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is signal — not noise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920240" cy="1188720"/>
          </a:xfrm>
          <a:prstGeom prst="rect">
            <a:avLst/>
          </a:prstGeom>
          <a:solidFill>
            <a:srgbClr val="1C2128"/>
          </a:solidFill>
          <a:ln w="15240">
            <a:solidFill>
              <a:srgbClr val="2EA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$67.89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PnL in Extreme Greed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600200"/>
            <a:ext cx="1920240" cy="1188720"/>
          </a:xfrm>
          <a:prstGeom prst="rect">
            <a:avLst/>
          </a:prstGeom>
          <a:solidFill>
            <a:srgbClr val="1C2128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 edge over momentum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600200"/>
            <a:ext cx="1920240" cy="1188720"/>
          </a:xfrm>
          <a:prstGeom prst="rect">
            <a:avLst/>
          </a:prstGeom>
          <a:solidFill>
            <a:srgbClr val="1C2128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$7,816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trade size in Fear (highest)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03136" y="1600200"/>
            <a:ext cx="1920240" cy="1188720"/>
          </a:xfrm>
          <a:prstGeom prst="rect">
            <a:avLst/>
          </a:prstGeom>
          <a:solidFill>
            <a:srgbClr val="1C2128"/>
          </a:solidFill>
          <a:ln w="15240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664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03136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trader win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88036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demonstrates that the Bitcoin Fear &amp; Greed Index carries meaningful predictive signal for trader performance on Hyperliquid. The data consistently shows:
• Contrarian positioning during extreme sentiment periods statistically outperforms momentum strategies
• Extreme Greed is the most profitable sentiment zone by avg PnL, despite the common belief that fear creates better opportunities
• Position sizing decisions are often counterproductive — traders bet largest when fear is highest, despite lower returns
• A sentiment-aware risk model combined with asset concentration in top-performing coins is the optimal strategy prescription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987</Words>
  <Application>Microsoft Office PowerPoint</Application>
  <PresentationFormat>On-screen Show (16:9)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Hyperliquid Trader Analysis × Bitcoin Fear &amp; Greed Index</dc:title>
  <dc:subject>PptxGenJS Presentation</dc:subject>
  <dc:creator>PptxGenJS</dc:creator>
  <cp:lastModifiedBy>Padam Pohal</cp:lastModifiedBy>
  <cp:revision>2</cp:revision>
  <dcterms:created xsi:type="dcterms:W3CDTF">2026-04-21T06:33:24Z</dcterms:created>
  <dcterms:modified xsi:type="dcterms:W3CDTF">2026-04-21T07:02:37Z</dcterms:modified>
</cp:coreProperties>
</file>